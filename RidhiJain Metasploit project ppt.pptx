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ublicdomainpictures.net/en/view-image.php?image=80234&amp;picture=thank-you-text" TargetMode="External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0080" y="685800"/>
            <a:ext cx="109728" cy="5029200"/>
          </a:xfrm>
          <a:prstGeom prst="rect">
            <a:avLst/>
          </a:prstGeom>
          <a:solidFill>
            <a:srgbClr val="236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441350" y="1004384"/>
            <a:ext cx="6368538" cy="121571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Aptos Display"/>
              </a:defRPr>
            </a:pPr>
            <a:r>
              <a:rPr lang="en-IN" sz="4500" b="1" dirty="0">
                <a:solidFill>
                  <a:srgbClr val="FFFFFF"/>
                </a:solidFill>
                <a:latin typeface="Aptos Display"/>
              </a:rPr>
              <a:t>Metasploit Lab on DVWA</a:t>
            </a:r>
            <a:r>
              <a:rPr lang="en-US" sz="4500" dirty="0"/>
              <a:t> </a:t>
            </a:r>
          </a:p>
          <a:p>
            <a:pPr>
              <a:defRPr sz="2800" b="1">
                <a:solidFill>
                  <a:srgbClr val="AFD2F5"/>
                </a:solidFill>
                <a:latin typeface="Aptos Display"/>
              </a:defRPr>
            </a:pP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2952627" y="2294013"/>
            <a:ext cx="6309228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FFFFFF"/>
                </a:solidFill>
                <a:latin typeface="Aptos"/>
              </a:defRPr>
            </a:pPr>
            <a:r>
              <a:rPr lang="en-IN" sz="3000" dirty="0">
                <a:solidFill>
                  <a:schemeClr val="accent2">
                    <a:lumMod val="60000"/>
                    <a:lumOff val="40000"/>
                  </a:schemeClr>
                </a:solidFill>
                <a:latin typeface="Aptos"/>
              </a:rPr>
              <a:t>Ethical Hacking &amp; Penetration Testing</a:t>
            </a:r>
            <a:endParaRPr sz="3000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76ECC07-818C-3C71-ED26-69DD8BFEB02C}"/>
              </a:ext>
            </a:extLst>
          </p:cNvPr>
          <p:cNvSpPr txBox="1"/>
          <p:nvPr/>
        </p:nvSpPr>
        <p:spPr>
          <a:xfrm>
            <a:off x="8642555" y="5004619"/>
            <a:ext cx="290936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200" dirty="0">
                <a:solidFill>
                  <a:schemeClr val="accent3">
                    <a:lumMod val="20000"/>
                    <a:lumOff val="80000"/>
                  </a:schemeClr>
                </a:solidFill>
              </a:rPr>
              <a:t>BY RIDHI JAIN</a:t>
            </a:r>
            <a:endParaRPr lang="en-US" sz="2200" dirty="0">
              <a:solidFill>
                <a:schemeClr val="accent3">
                  <a:lumMod val="20000"/>
                  <a:lumOff val="80000"/>
                </a:schemeClr>
              </a:solidFill>
            </a:endParaRPr>
          </a:p>
          <a:p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A0980D1-7A41-9DCB-57CD-1CC5F61940FD}"/>
              </a:ext>
            </a:extLst>
          </p:cNvPr>
          <p:cNvSpPr txBox="1"/>
          <p:nvPr/>
        </p:nvSpPr>
        <p:spPr>
          <a:xfrm>
            <a:off x="1140542" y="3529781"/>
            <a:ext cx="9773264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Aptos Display"/>
              </a:defRPr>
            </a:pPr>
            <a:r>
              <a:rPr lang="en-US" dirty="0"/>
              <a:t>DVWA Vulnerability Assessment</a:t>
            </a:r>
          </a:p>
          <a:p>
            <a:pPr>
              <a:defRPr sz="2800" b="1">
                <a:solidFill>
                  <a:srgbClr val="AFD2F5"/>
                </a:solidFill>
                <a:latin typeface="Aptos Display"/>
              </a:defRPr>
            </a:pPr>
            <a:r>
              <a:rPr lang="en-US" dirty="0"/>
              <a:t>&amp; </a:t>
            </a:r>
            <a:r>
              <a:rPr lang="en-US" dirty="0" err="1"/>
              <a:t>DistCC</a:t>
            </a:r>
            <a:r>
              <a:rPr lang="en-US" dirty="0"/>
              <a:t> Remote Code Execution using Metasploit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36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A192F"/>
                </a:solidFill>
                <a:latin typeface="Aptos Display"/>
              </a:defRPr>
            </a:pPr>
            <a:r>
              <a:t>Project Overview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446520"/>
            <a:ext cx="10972800" cy="9144"/>
          </a:xfrm>
          <a:prstGeom prst="rect">
            <a:avLst/>
          </a:prstGeom>
          <a:solidFill>
            <a:srgbClr val="D2DC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748B"/>
                </a:solidFill>
              </a:defRPr>
            </a:pPr>
            <a:r>
              <a:t>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234440"/>
            <a:ext cx="5303520" cy="1828800"/>
          </a:xfrm>
          <a:prstGeom prst="roundRect">
            <a:avLst/>
          </a:prstGeom>
          <a:solidFill>
            <a:srgbClr val="EEF4FA"/>
          </a:solidFill>
          <a:ln>
            <a:solidFill>
              <a:srgbClr val="D7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40080" y="1234440"/>
            <a:ext cx="64008" cy="1828800"/>
          </a:xfrm>
          <a:prstGeom prst="rect">
            <a:avLst/>
          </a:prstGeom>
          <a:solidFill>
            <a:srgbClr val="236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41247" y="1399032"/>
            <a:ext cx="493775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A192F"/>
                </a:solidFill>
                <a:latin typeface="Aptos"/>
              </a:defRPr>
            </a:pPr>
            <a:r>
              <a:t>Project Scope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7" y="1801368"/>
            <a:ext cx="493775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E293B"/>
                </a:solidFill>
                <a:latin typeface="Aptos"/>
              </a:defRPr>
            </a:pPr>
            <a:r>
              <a:t>A controlled Docker-based security lab using DVWA, Kali Linux and Metasploit, with a deliberately vulnerable Metasploitable2 target.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234440"/>
            <a:ext cx="5303520" cy="1828800"/>
          </a:xfrm>
          <a:prstGeom prst="roundRect">
            <a:avLst/>
          </a:prstGeom>
          <a:solidFill>
            <a:srgbClr val="EEF4FA"/>
          </a:solidFill>
          <a:ln>
            <a:solidFill>
              <a:srgbClr val="D7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217920" y="1234440"/>
            <a:ext cx="64008" cy="1828800"/>
          </a:xfrm>
          <a:prstGeom prst="rect">
            <a:avLst/>
          </a:prstGeom>
          <a:solidFill>
            <a:srgbClr val="236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19088" y="1399032"/>
            <a:ext cx="493775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A192F"/>
                </a:solidFill>
                <a:latin typeface="Aptos"/>
              </a:defRPr>
            </a:pPr>
            <a:r>
              <a:t>What Was Demonstrated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19088" y="1801368"/>
            <a:ext cx="493775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E293B"/>
                </a:solidFill>
                <a:latin typeface="Aptos"/>
              </a:defRPr>
            </a:pPr>
            <a:r>
              <a:t>Multiple web-application vulnerability classes were tested, followed by validation of the DistCC command-execution weakness.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429000"/>
            <a:ext cx="5303520" cy="1828800"/>
          </a:xfrm>
          <a:prstGeom prst="roundRect">
            <a:avLst/>
          </a:prstGeom>
          <a:solidFill>
            <a:srgbClr val="EEF4FA"/>
          </a:solidFill>
          <a:ln>
            <a:solidFill>
              <a:srgbClr val="D7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40080" y="3429000"/>
            <a:ext cx="64008" cy="1828800"/>
          </a:xfrm>
          <a:prstGeom prst="rect">
            <a:avLst/>
          </a:prstGeom>
          <a:solidFill>
            <a:srgbClr val="236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41247" y="3593592"/>
            <a:ext cx="493775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A192F"/>
                </a:solidFill>
                <a:latin typeface="Aptos"/>
              </a:defRPr>
            </a:pPr>
            <a:r>
              <a:t>Evidence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7" y="3995928"/>
            <a:ext cx="493775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E293B"/>
                </a:solidFill>
                <a:latin typeface="Aptos"/>
              </a:defRPr>
            </a:pPr>
            <a:r>
              <a:t>Practical screenshots, Docker/network verification, vulnerability checks and a successfully established command-shell session.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429000"/>
            <a:ext cx="5303520" cy="1828800"/>
          </a:xfrm>
          <a:prstGeom prst="roundRect">
            <a:avLst/>
          </a:prstGeom>
          <a:solidFill>
            <a:srgbClr val="EEF4FA"/>
          </a:solidFill>
          <a:ln>
            <a:solidFill>
              <a:srgbClr val="D7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217920" y="3429000"/>
            <a:ext cx="64008" cy="1828800"/>
          </a:xfrm>
          <a:prstGeom prst="rect">
            <a:avLst/>
          </a:prstGeom>
          <a:solidFill>
            <a:srgbClr val="37A0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19088" y="3593592"/>
            <a:ext cx="4937759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A192F"/>
                </a:solidFill>
                <a:latin typeface="Aptos"/>
              </a:defRPr>
            </a:pPr>
            <a:r>
              <a:t>Key Result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19088" y="3995928"/>
            <a:ext cx="493775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E293B"/>
                </a:solidFill>
                <a:latin typeface="Aptos"/>
              </a:defRPr>
            </a:pPr>
            <a:r>
              <a:t>Metasploit confirmed DistCC as vulnerable and the reverse Perl payload opened a shell running in the daemon context.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36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A192F"/>
                </a:solidFill>
                <a:latin typeface="Aptos Display"/>
              </a:defRPr>
            </a:pPr>
            <a:r>
              <a:t>Objectives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446520"/>
            <a:ext cx="10972800" cy="9144"/>
          </a:xfrm>
          <a:prstGeom prst="rect">
            <a:avLst/>
          </a:prstGeom>
          <a:solidFill>
            <a:srgbClr val="D2DC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748B"/>
                </a:solidFill>
              </a:defRPr>
            </a:pPr>
            <a: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234440"/>
            <a:ext cx="10058400" cy="38547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E293B"/>
                </a:solidFill>
                <a:latin typeface="Aptos"/>
              </a:defRPr>
            </a:pPr>
            <a:r>
              <a:rPr dirty="0"/>
              <a:t>Set up and verify an isolated Docker-based cybersecurity laboratory.</a:t>
            </a:r>
          </a:p>
          <a:p>
            <a:pPr marL="285750" indent="-285750">
              <a:lnSpc>
                <a:spcPct val="200000"/>
              </a:lnSpc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E293B"/>
                </a:solidFill>
                <a:latin typeface="Aptos"/>
              </a:defRPr>
            </a:pPr>
            <a:r>
              <a:rPr dirty="0"/>
              <a:t>Configure and test DVWA vulnerability modules in a controlled environment.</a:t>
            </a:r>
          </a:p>
          <a:p>
            <a:pPr marL="285750" indent="-285750">
              <a:lnSpc>
                <a:spcPct val="200000"/>
              </a:lnSpc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E293B"/>
                </a:solidFill>
                <a:latin typeface="Aptos"/>
              </a:defRPr>
            </a:pPr>
            <a:r>
              <a:rPr dirty="0"/>
              <a:t>Capture evidence of vulnerable behavior and security-test results.</a:t>
            </a:r>
          </a:p>
          <a:p>
            <a:pPr marL="285750" indent="-285750">
              <a:lnSpc>
                <a:spcPct val="200000"/>
              </a:lnSpc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E293B"/>
                </a:solidFill>
                <a:latin typeface="Aptos"/>
              </a:defRPr>
            </a:pPr>
            <a:r>
              <a:rPr dirty="0"/>
              <a:t>Identify and validate the </a:t>
            </a:r>
            <a:r>
              <a:rPr dirty="0" err="1"/>
              <a:t>DistCC</a:t>
            </a:r>
            <a:r>
              <a:rPr dirty="0"/>
              <a:t> command-execution weakness on Metasploitable2.</a:t>
            </a:r>
          </a:p>
          <a:p>
            <a:pPr marL="285750" indent="-285750">
              <a:lnSpc>
                <a:spcPct val="200000"/>
              </a:lnSpc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E293B"/>
                </a:solidFill>
                <a:latin typeface="Aptos"/>
              </a:defRPr>
            </a:pPr>
            <a:r>
              <a:rPr dirty="0"/>
              <a:t>Use Metasploit to establish and verify a controlled command-shell session.</a:t>
            </a:r>
          </a:p>
          <a:p>
            <a:pPr marL="285750" indent="-285750">
              <a:lnSpc>
                <a:spcPct val="200000"/>
              </a:lnSpc>
              <a:spcAft>
                <a:spcPts val="800"/>
              </a:spcAft>
              <a:buFont typeface="Arial" panose="020B0604020202020204" pitchFamily="34" charset="0"/>
              <a:buChar char="•"/>
              <a:defRPr sz="1800">
                <a:solidFill>
                  <a:srgbClr val="1E293B"/>
                </a:solidFill>
                <a:latin typeface="Aptos"/>
              </a:defRPr>
            </a:pPr>
            <a:r>
              <a:rPr dirty="0"/>
              <a:t>Document findings, challenges, learning outcomes and security implications.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36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A192F"/>
                </a:solidFill>
                <a:latin typeface="Aptos Display"/>
              </a:defRPr>
            </a:pPr>
            <a:r>
              <a:t>Tools &amp; Laboratory Environment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446520"/>
            <a:ext cx="10972800" cy="9144"/>
          </a:xfrm>
          <a:prstGeom prst="rect">
            <a:avLst/>
          </a:prstGeom>
          <a:solidFill>
            <a:srgbClr val="D2DC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748B"/>
                </a:solidFill>
              </a:defRPr>
            </a:pPr>
            <a:r>
              <a:t>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097280"/>
            <a:ext cx="5166360" cy="987552"/>
          </a:xfrm>
          <a:prstGeom prst="roundRect">
            <a:avLst/>
          </a:prstGeom>
          <a:solidFill>
            <a:srgbClr val="EEF4FA"/>
          </a:solidFill>
          <a:ln>
            <a:solidFill>
              <a:srgbClr val="D7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85800" y="1097280"/>
            <a:ext cx="64008" cy="987552"/>
          </a:xfrm>
          <a:prstGeom prst="rect">
            <a:avLst/>
          </a:prstGeom>
          <a:solidFill>
            <a:srgbClr val="236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86968" y="1261872"/>
            <a:ext cx="4800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A192F"/>
                </a:solidFill>
                <a:latin typeface="Aptos"/>
              </a:defRPr>
            </a:pPr>
            <a:r>
              <a:t>Kali Linux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1664207"/>
            <a:ext cx="4800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E293B"/>
                </a:solidFill>
                <a:latin typeface="Aptos"/>
              </a:defRPr>
            </a:pPr>
            <a:r>
              <a:t>Command-line security testing and enumeration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097280"/>
            <a:ext cx="5166360" cy="987552"/>
          </a:xfrm>
          <a:prstGeom prst="roundRect">
            <a:avLst/>
          </a:prstGeom>
          <a:solidFill>
            <a:srgbClr val="EEF4FA"/>
          </a:solidFill>
          <a:ln>
            <a:solidFill>
              <a:srgbClr val="D7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217920" y="1097280"/>
            <a:ext cx="64008" cy="987552"/>
          </a:xfrm>
          <a:prstGeom prst="rect">
            <a:avLst/>
          </a:prstGeom>
          <a:solidFill>
            <a:srgbClr val="236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19088" y="1261872"/>
            <a:ext cx="4800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A192F"/>
                </a:solidFill>
                <a:latin typeface="Aptos"/>
              </a:defRPr>
            </a:pPr>
            <a:r>
              <a:t>Docker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19088" y="1664207"/>
            <a:ext cx="4800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E293B"/>
                </a:solidFill>
                <a:latin typeface="Aptos"/>
              </a:defRPr>
            </a:pPr>
            <a:r>
              <a:t>Isolated container-based lab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2331720"/>
            <a:ext cx="5166360" cy="987552"/>
          </a:xfrm>
          <a:prstGeom prst="roundRect">
            <a:avLst/>
          </a:prstGeom>
          <a:solidFill>
            <a:srgbClr val="EEF4FA"/>
          </a:solidFill>
          <a:ln>
            <a:solidFill>
              <a:srgbClr val="D7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85800" y="2331720"/>
            <a:ext cx="64008" cy="987552"/>
          </a:xfrm>
          <a:prstGeom prst="rect">
            <a:avLst/>
          </a:prstGeom>
          <a:solidFill>
            <a:srgbClr val="236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86968" y="2496312"/>
            <a:ext cx="4800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A192F"/>
                </a:solidFill>
                <a:latin typeface="Aptos"/>
              </a:defRPr>
            </a:pPr>
            <a:r>
              <a:t>DVWA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8" y="2898648"/>
            <a:ext cx="4800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E293B"/>
                </a:solidFill>
                <a:latin typeface="Aptos"/>
              </a:defRPr>
            </a:pPr>
            <a:r>
              <a:t>Deliberately vulnerable web application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2331720"/>
            <a:ext cx="5166360" cy="987552"/>
          </a:xfrm>
          <a:prstGeom prst="roundRect">
            <a:avLst/>
          </a:prstGeom>
          <a:solidFill>
            <a:srgbClr val="EEF4FA"/>
          </a:solidFill>
          <a:ln>
            <a:solidFill>
              <a:srgbClr val="D7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217920" y="2331720"/>
            <a:ext cx="64008" cy="987552"/>
          </a:xfrm>
          <a:prstGeom prst="rect">
            <a:avLst/>
          </a:prstGeom>
          <a:solidFill>
            <a:srgbClr val="236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19088" y="2496312"/>
            <a:ext cx="4800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A192F"/>
                </a:solidFill>
                <a:latin typeface="Aptos"/>
              </a:defRPr>
            </a:pPr>
            <a:r>
              <a:t>MariaDB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19088" y="2898648"/>
            <a:ext cx="4800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E293B"/>
                </a:solidFill>
                <a:latin typeface="Aptos"/>
              </a:defRPr>
            </a:pPr>
            <a:r>
              <a:t>DVWA database backend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" y="3566160"/>
            <a:ext cx="5166360" cy="987552"/>
          </a:xfrm>
          <a:prstGeom prst="roundRect">
            <a:avLst/>
          </a:prstGeom>
          <a:solidFill>
            <a:srgbClr val="EEF4FA"/>
          </a:solidFill>
          <a:ln>
            <a:solidFill>
              <a:srgbClr val="D7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85800" y="3566160"/>
            <a:ext cx="64008" cy="987552"/>
          </a:xfrm>
          <a:prstGeom prst="rect">
            <a:avLst/>
          </a:prstGeom>
          <a:solidFill>
            <a:srgbClr val="236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86968" y="3730752"/>
            <a:ext cx="4800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A192F"/>
                </a:solidFill>
                <a:latin typeface="Aptos"/>
              </a:defRPr>
            </a:pPr>
            <a:r>
              <a:t>Metasploit Framework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6968" y="4133088"/>
            <a:ext cx="4800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E293B"/>
                </a:solidFill>
                <a:latin typeface="Aptos"/>
              </a:defRPr>
            </a:pPr>
            <a:r>
              <a:t>Vulnerability validation and controlled exploitation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17920" y="3566160"/>
            <a:ext cx="5166360" cy="987552"/>
          </a:xfrm>
          <a:prstGeom prst="roundRect">
            <a:avLst/>
          </a:prstGeom>
          <a:solidFill>
            <a:srgbClr val="EEF4FA"/>
          </a:solidFill>
          <a:ln>
            <a:solidFill>
              <a:srgbClr val="D7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217920" y="3566160"/>
            <a:ext cx="64008" cy="987552"/>
          </a:xfrm>
          <a:prstGeom prst="rect">
            <a:avLst/>
          </a:prstGeom>
          <a:solidFill>
            <a:srgbClr val="236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419088" y="3730752"/>
            <a:ext cx="4800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A192F"/>
                </a:solidFill>
                <a:latin typeface="Aptos"/>
              </a:defRPr>
            </a:pPr>
            <a:r>
              <a:t>Metasploitable2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19088" y="4133088"/>
            <a:ext cx="4800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E293B"/>
                </a:solidFill>
                <a:latin typeface="Aptos"/>
              </a:defRPr>
            </a:pPr>
            <a:r>
              <a:t>Deliberately vulnerable target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85800" y="4800600"/>
            <a:ext cx="5166360" cy="987552"/>
          </a:xfrm>
          <a:prstGeom prst="roundRect">
            <a:avLst/>
          </a:prstGeom>
          <a:solidFill>
            <a:srgbClr val="EEF4FA"/>
          </a:solidFill>
          <a:ln>
            <a:solidFill>
              <a:srgbClr val="D7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685800" y="4800600"/>
            <a:ext cx="64008" cy="987552"/>
          </a:xfrm>
          <a:prstGeom prst="rect">
            <a:avLst/>
          </a:prstGeom>
          <a:solidFill>
            <a:srgbClr val="236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86968" y="4965192"/>
            <a:ext cx="4800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A192F"/>
                </a:solidFill>
                <a:latin typeface="Aptos"/>
              </a:defRPr>
            </a:pPr>
            <a:r>
              <a:t>Nmap / Netcat / curl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6968" y="5367528"/>
            <a:ext cx="4800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E293B"/>
                </a:solidFill>
                <a:latin typeface="Aptos"/>
              </a:defRPr>
            </a:pPr>
            <a:r>
              <a:t>Enumeration, connectivity and HTTP inspection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36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A192F"/>
                </a:solidFill>
                <a:latin typeface="Aptos Display"/>
              </a:defRPr>
            </a:pPr>
            <a:r>
              <a:t>Lab Architecture &amp; Network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446520"/>
            <a:ext cx="10972800" cy="9144"/>
          </a:xfrm>
          <a:prstGeom prst="rect">
            <a:avLst/>
          </a:prstGeom>
          <a:solidFill>
            <a:srgbClr val="D2DC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748B"/>
                </a:solidFill>
              </a:defRPr>
            </a:pPr>
            <a:r>
              <a:t>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417320"/>
            <a:ext cx="2971800" cy="1828800"/>
          </a:xfrm>
          <a:prstGeom prst="roundRect">
            <a:avLst/>
          </a:prstGeom>
          <a:solidFill>
            <a:srgbClr val="EEF4FA"/>
          </a:solidFill>
          <a:ln>
            <a:solidFill>
              <a:srgbClr val="D7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31520" y="1417320"/>
            <a:ext cx="64008" cy="1828800"/>
          </a:xfrm>
          <a:prstGeom prst="rect">
            <a:avLst/>
          </a:prstGeom>
          <a:solidFill>
            <a:srgbClr val="236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32688" y="1581912"/>
            <a:ext cx="2606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A192F"/>
                </a:solidFill>
                <a:latin typeface="Aptos"/>
              </a:defRPr>
            </a:pPr>
            <a:r>
              <a:t>Kali Linux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1984248"/>
            <a:ext cx="2606040" cy="781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defRPr sz="1200">
                <a:solidFill>
                  <a:srgbClr val="1E293B"/>
                </a:solidFill>
                <a:latin typeface="Aptos"/>
              </a:defRPr>
            </a:pPr>
            <a:r>
              <a:rPr dirty="0"/>
              <a:t>Security testing workstation</a:t>
            </a:r>
            <a:br>
              <a:rPr dirty="0"/>
            </a:br>
            <a:r>
              <a:rPr dirty="0"/>
              <a:t>Browser + Nmap + curl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0" y="1417320"/>
            <a:ext cx="2971800" cy="1828800"/>
          </a:xfrm>
          <a:prstGeom prst="roundRect">
            <a:avLst/>
          </a:prstGeom>
          <a:solidFill>
            <a:srgbClr val="EEF4FA"/>
          </a:solidFill>
          <a:ln>
            <a:solidFill>
              <a:srgbClr val="D7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572000" y="1417320"/>
            <a:ext cx="64008" cy="1828800"/>
          </a:xfrm>
          <a:prstGeom prst="rect">
            <a:avLst/>
          </a:prstGeom>
          <a:solidFill>
            <a:srgbClr val="236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773168" y="1581912"/>
            <a:ext cx="2606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A192F"/>
                </a:solidFill>
                <a:latin typeface="Aptos"/>
              </a:defRPr>
            </a:pPr>
            <a:r>
              <a:t>Metasploit Container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73168" y="1984248"/>
            <a:ext cx="2606040" cy="781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defRPr sz="1200">
                <a:solidFill>
                  <a:srgbClr val="1E293B"/>
                </a:solidFill>
                <a:latin typeface="Aptos"/>
              </a:defRPr>
            </a:pPr>
            <a:r>
              <a:rPr dirty="0"/>
              <a:t>172.19.0.3</a:t>
            </a:r>
            <a:br>
              <a:rPr dirty="0"/>
            </a:br>
            <a:r>
              <a:rPr dirty="0"/>
              <a:t>Listener: TCP 4444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412480" y="1417320"/>
            <a:ext cx="2971800" cy="1828800"/>
          </a:xfrm>
          <a:prstGeom prst="roundRect">
            <a:avLst/>
          </a:prstGeom>
          <a:solidFill>
            <a:srgbClr val="EEF4FA"/>
          </a:solidFill>
          <a:ln>
            <a:solidFill>
              <a:srgbClr val="D7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412480" y="1417320"/>
            <a:ext cx="64008" cy="1828800"/>
          </a:xfrm>
          <a:prstGeom prst="rect">
            <a:avLst/>
          </a:prstGeom>
          <a:solidFill>
            <a:srgbClr val="236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613648" y="1581912"/>
            <a:ext cx="2606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A192F"/>
                </a:solidFill>
                <a:latin typeface="Aptos"/>
              </a:defRPr>
            </a:pPr>
            <a:r>
              <a:t>Metasploitable2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13648" y="1984248"/>
            <a:ext cx="2606040" cy="781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defRPr sz="1200">
                <a:solidFill>
                  <a:srgbClr val="1E293B"/>
                </a:solidFill>
                <a:latin typeface="Aptos"/>
              </a:defRPr>
            </a:pPr>
            <a:r>
              <a:rPr dirty="0"/>
              <a:t>172.19.0.2</a:t>
            </a:r>
            <a:br>
              <a:rPr dirty="0"/>
            </a:br>
            <a:r>
              <a:rPr dirty="0" err="1"/>
              <a:t>DistCC</a:t>
            </a:r>
            <a:r>
              <a:rPr dirty="0"/>
              <a:t>: TCP 3632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3794760" y="1993392"/>
            <a:ext cx="594360" cy="502920"/>
          </a:xfrm>
          <a:prstGeom prst="rightArrow">
            <a:avLst/>
          </a:prstGeom>
          <a:solidFill>
            <a:srgbClr val="236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ight Arrow 21"/>
          <p:cNvSpPr/>
          <p:nvPr/>
        </p:nvSpPr>
        <p:spPr>
          <a:xfrm>
            <a:off x="7635240" y="1993392"/>
            <a:ext cx="594360" cy="502920"/>
          </a:xfrm>
          <a:prstGeom prst="rightArrow">
            <a:avLst/>
          </a:prstGeom>
          <a:solidFill>
            <a:srgbClr val="236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1484671" y="3977639"/>
            <a:ext cx="9222658" cy="1051560"/>
          </a:xfrm>
          <a:prstGeom prst="roundRect">
            <a:avLst/>
          </a:prstGeom>
          <a:solidFill>
            <a:srgbClr val="EEF4FA"/>
          </a:solidFill>
          <a:ln>
            <a:solidFill>
              <a:srgbClr val="D7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514600" y="4187952"/>
            <a:ext cx="71780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0A192F"/>
                </a:solidFill>
                <a:latin typeface="Aptos"/>
              </a:defRPr>
            </a:pPr>
            <a:r>
              <a:t>Docker bridge network: msf-lab   •   Target and Metasploit containers verified on the same network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36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A192F"/>
                </a:solidFill>
                <a:latin typeface="Aptos Display"/>
              </a:defRPr>
            </a:pPr>
            <a:r>
              <a:t>DVWA Security Testing Methodology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446520"/>
            <a:ext cx="10972800" cy="9144"/>
          </a:xfrm>
          <a:prstGeom prst="rect">
            <a:avLst/>
          </a:prstGeom>
          <a:solidFill>
            <a:srgbClr val="D2DC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748B"/>
                </a:solidFill>
              </a:defRPr>
            </a:pPr>
            <a:r>
              <a:t>6</a:t>
            </a:r>
          </a:p>
        </p:txBody>
      </p:sp>
      <p:sp>
        <p:nvSpPr>
          <p:cNvPr id="9" name="Oval 8"/>
          <p:cNvSpPr/>
          <p:nvPr/>
        </p:nvSpPr>
        <p:spPr>
          <a:xfrm>
            <a:off x="685800" y="1234440"/>
            <a:ext cx="566928" cy="566928"/>
          </a:xfrm>
          <a:prstGeom prst="ellipse">
            <a:avLst/>
          </a:prstGeom>
          <a:solidFill>
            <a:srgbClr val="236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99032" y="1207008"/>
            <a:ext cx="2926080" cy="1325880"/>
          </a:xfrm>
          <a:prstGeom prst="roundRect">
            <a:avLst/>
          </a:prstGeom>
          <a:solidFill>
            <a:srgbClr val="EEF4FA"/>
          </a:solidFill>
          <a:ln>
            <a:solidFill>
              <a:srgbClr val="D7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399032" y="1207008"/>
            <a:ext cx="64008" cy="1325880"/>
          </a:xfrm>
          <a:prstGeom prst="rect">
            <a:avLst/>
          </a:prstGeom>
          <a:solidFill>
            <a:srgbClr val="236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600200" y="137160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A192F"/>
                </a:solidFill>
                <a:latin typeface="Aptos"/>
              </a:defRPr>
            </a:pPr>
            <a:r>
              <a:t>Initialize DVWA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00200" y="1773936"/>
            <a:ext cx="256032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E293B"/>
                </a:solidFill>
                <a:latin typeface="Aptos"/>
              </a:defRPr>
            </a:pPr>
            <a:r>
              <a:t>Database setup and local login workflow</a:t>
            </a:r>
          </a:p>
        </p:txBody>
      </p:sp>
      <p:sp>
        <p:nvSpPr>
          <p:cNvPr id="14" name="Oval 13"/>
          <p:cNvSpPr/>
          <p:nvPr/>
        </p:nvSpPr>
        <p:spPr>
          <a:xfrm>
            <a:off x="4480560" y="1234440"/>
            <a:ext cx="566928" cy="566928"/>
          </a:xfrm>
          <a:prstGeom prst="ellipse">
            <a:avLst/>
          </a:prstGeom>
          <a:solidFill>
            <a:srgbClr val="236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193792" y="1207008"/>
            <a:ext cx="2926080" cy="1325880"/>
          </a:xfrm>
          <a:prstGeom prst="roundRect">
            <a:avLst/>
          </a:prstGeom>
          <a:solidFill>
            <a:srgbClr val="EEF4FA"/>
          </a:solidFill>
          <a:ln>
            <a:solidFill>
              <a:srgbClr val="D7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193792" y="1207008"/>
            <a:ext cx="64008" cy="1325880"/>
          </a:xfrm>
          <a:prstGeom prst="rect">
            <a:avLst/>
          </a:prstGeom>
          <a:solidFill>
            <a:srgbClr val="236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394960" y="137160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A192F"/>
                </a:solidFill>
                <a:latin typeface="Aptos"/>
              </a:defRPr>
            </a:pPr>
            <a:r>
              <a:t>Review modules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94960" y="1773936"/>
            <a:ext cx="256032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E293B"/>
                </a:solidFill>
                <a:latin typeface="Aptos"/>
              </a:defRPr>
            </a:pPr>
            <a:r>
              <a:t>Identify intentionally vulnerable interfaces</a:t>
            </a:r>
          </a:p>
        </p:txBody>
      </p:sp>
      <p:sp>
        <p:nvSpPr>
          <p:cNvPr id="19" name="Oval 18"/>
          <p:cNvSpPr/>
          <p:nvPr/>
        </p:nvSpPr>
        <p:spPr>
          <a:xfrm>
            <a:off x="8275320" y="1234440"/>
            <a:ext cx="566928" cy="566928"/>
          </a:xfrm>
          <a:prstGeom prst="ellipse">
            <a:avLst/>
          </a:prstGeom>
          <a:solidFill>
            <a:srgbClr val="236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88552" y="1207008"/>
            <a:ext cx="2926080" cy="1325880"/>
          </a:xfrm>
          <a:prstGeom prst="roundRect">
            <a:avLst/>
          </a:prstGeom>
          <a:solidFill>
            <a:srgbClr val="EEF4FA"/>
          </a:solidFill>
          <a:ln>
            <a:solidFill>
              <a:srgbClr val="D7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988552" y="1207008"/>
            <a:ext cx="64008" cy="1325880"/>
          </a:xfrm>
          <a:prstGeom prst="rect">
            <a:avLst/>
          </a:prstGeom>
          <a:solidFill>
            <a:srgbClr val="236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189720" y="137160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A192F"/>
                </a:solidFill>
                <a:latin typeface="Aptos"/>
              </a:defRPr>
            </a:pPr>
            <a:r>
              <a:t>Injection testing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89720" y="1773936"/>
            <a:ext cx="256032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E293B"/>
                </a:solidFill>
                <a:latin typeface="Aptos"/>
              </a:defRPr>
            </a:pPr>
            <a:r>
              <a:t>Command Injection, SQL Injection and Blind SQLi</a:t>
            </a:r>
          </a:p>
        </p:txBody>
      </p:sp>
      <p:sp>
        <p:nvSpPr>
          <p:cNvPr id="24" name="Oval 23"/>
          <p:cNvSpPr/>
          <p:nvPr/>
        </p:nvSpPr>
        <p:spPr>
          <a:xfrm>
            <a:off x="685800" y="3474720"/>
            <a:ext cx="566928" cy="566928"/>
          </a:xfrm>
          <a:prstGeom prst="ellipse">
            <a:avLst/>
          </a:prstGeom>
          <a:solidFill>
            <a:srgbClr val="236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399032" y="3447288"/>
            <a:ext cx="2926080" cy="1325880"/>
          </a:xfrm>
          <a:prstGeom prst="roundRect">
            <a:avLst/>
          </a:prstGeom>
          <a:solidFill>
            <a:srgbClr val="EEF4FA"/>
          </a:solidFill>
          <a:ln>
            <a:solidFill>
              <a:srgbClr val="D7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1399032" y="3447288"/>
            <a:ext cx="64008" cy="1325880"/>
          </a:xfrm>
          <a:prstGeom prst="rect">
            <a:avLst/>
          </a:prstGeom>
          <a:solidFill>
            <a:srgbClr val="236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600200" y="361188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A192F"/>
                </a:solidFill>
                <a:latin typeface="Aptos"/>
              </a:defRPr>
            </a:pPr>
            <a:r>
              <a:t>Client-side testing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00200" y="4014216"/>
            <a:ext cx="256032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E293B"/>
                </a:solidFill>
                <a:latin typeface="Aptos"/>
              </a:defRPr>
            </a:pPr>
            <a:r>
              <a:t>Reflected, Stored and DOM XSS; JavaScript; CSP</a:t>
            </a:r>
          </a:p>
        </p:txBody>
      </p:sp>
      <p:sp>
        <p:nvSpPr>
          <p:cNvPr id="29" name="Oval 28"/>
          <p:cNvSpPr/>
          <p:nvPr/>
        </p:nvSpPr>
        <p:spPr>
          <a:xfrm>
            <a:off x="4480560" y="3474720"/>
            <a:ext cx="566928" cy="566928"/>
          </a:xfrm>
          <a:prstGeom prst="ellipse">
            <a:avLst/>
          </a:prstGeom>
          <a:solidFill>
            <a:srgbClr val="236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193792" y="3447288"/>
            <a:ext cx="2926080" cy="1325880"/>
          </a:xfrm>
          <a:prstGeom prst="roundRect">
            <a:avLst/>
          </a:prstGeom>
          <a:solidFill>
            <a:srgbClr val="EEF4FA"/>
          </a:solidFill>
          <a:ln>
            <a:solidFill>
              <a:srgbClr val="D7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5193792" y="3447288"/>
            <a:ext cx="64008" cy="1325880"/>
          </a:xfrm>
          <a:prstGeom prst="rect">
            <a:avLst/>
          </a:prstGeom>
          <a:solidFill>
            <a:srgbClr val="236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394960" y="361188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A192F"/>
                </a:solidFill>
                <a:latin typeface="Aptos"/>
              </a:defRPr>
            </a:pPr>
            <a:r>
              <a:t>File/session testing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94960" y="4014216"/>
            <a:ext cx="256032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E293B"/>
                </a:solidFill>
                <a:latin typeface="Aptos"/>
              </a:defRPr>
            </a:pPr>
            <a:r>
              <a:t>File Inclusion, File Upload and Weak Session IDs</a:t>
            </a:r>
          </a:p>
        </p:txBody>
      </p:sp>
      <p:sp>
        <p:nvSpPr>
          <p:cNvPr id="34" name="Oval 33"/>
          <p:cNvSpPr/>
          <p:nvPr/>
        </p:nvSpPr>
        <p:spPr>
          <a:xfrm>
            <a:off x="8275320" y="3474720"/>
            <a:ext cx="566928" cy="566928"/>
          </a:xfrm>
          <a:prstGeom prst="ellipse">
            <a:avLst/>
          </a:prstGeom>
          <a:solidFill>
            <a:srgbClr val="236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988552" y="3447288"/>
            <a:ext cx="2926080" cy="1325880"/>
          </a:xfrm>
          <a:prstGeom prst="roundRect">
            <a:avLst/>
          </a:prstGeom>
          <a:solidFill>
            <a:srgbClr val="EEF4FA"/>
          </a:solidFill>
          <a:ln>
            <a:solidFill>
              <a:srgbClr val="D7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8988552" y="3447288"/>
            <a:ext cx="64008" cy="1325880"/>
          </a:xfrm>
          <a:prstGeom prst="rect">
            <a:avLst/>
          </a:prstGeom>
          <a:solidFill>
            <a:srgbClr val="236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9189720" y="361188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A192F"/>
                </a:solidFill>
                <a:latin typeface="Aptos"/>
              </a:defRPr>
            </a:pPr>
            <a:r>
              <a:t>Access/control testing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89720" y="4014216"/>
            <a:ext cx="256032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E293B"/>
                </a:solidFill>
                <a:latin typeface="Aptos"/>
              </a:defRPr>
            </a:pPr>
            <a:r>
              <a:t>Open Redirect, Cryptography and Authorisation Bypass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92128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36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A192F"/>
                </a:solidFill>
                <a:latin typeface="Aptos Display"/>
              </a:defRPr>
            </a:pPr>
            <a:r>
              <a:t>DVWA Findings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446520"/>
            <a:ext cx="10972800" cy="9144"/>
          </a:xfrm>
          <a:prstGeom prst="rect">
            <a:avLst/>
          </a:prstGeom>
          <a:solidFill>
            <a:srgbClr val="D2DC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748B"/>
                </a:solidFill>
              </a:defRPr>
            </a:pPr>
            <a:r>
              <a:t>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097280"/>
            <a:ext cx="5257800" cy="932688"/>
          </a:xfrm>
          <a:prstGeom prst="roundRect">
            <a:avLst/>
          </a:prstGeom>
          <a:solidFill>
            <a:srgbClr val="EEF4FA"/>
          </a:solidFill>
          <a:ln>
            <a:solidFill>
              <a:srgbClr val="D7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40080" y="1097280"/>
            <a:ext cx="64008" cy="932688"/>
          </a:xfrm>
          <a:prstGeom prst="rect">
            <a:avLst/>
          </a:prstGeom>
          <a:solidFill>
            <a:srgbClr val="236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41247" y="1261872"/>
            <a:ext cx="4892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A192F"/>
                </a:solidFill>
                <a:latin typeface="Aptos"/>
              </a:defRPr>
            </a:pPr>
            <a:r>
              <a:t>Command Injection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7" y="1664207"/>
            <a:ext cx="4892040" cy="2011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E293B"/>
                </a:solidFill>
                <a:latin typeface="Aptos"/>
              </a:defRPr>
            </a:pPr>
            <a:r>
              <a:t>High  •  Controlled input produced command-execution evidence.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097280"/>
            <a:ext cx="5257800" cy="932688"/>
          </a:xfrm>
          <a:prstGeom prst="roundRect">
            <a:avLst/>
          </a:prstGeom>
          <a:solidFill>
            <a:srgbClr val="EEF4FA"/>
          </a:solidFill>
          <a:ln>
            <a:solidFill>
              <a:srgbClr val="D7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217920" y="1097280"/>
            <a:ext cx="64008" cy="932688"/>
          </a:xfrm>
          <a:prstGeom prst="rect">
            <a:avLst/>
          </a:prstGeom>
          <a:solidFill>
            <a:srgbClr val="236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19088" y="1261872"/>
            <a:ext cx="4892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A192F"/>
                </a:solidFill>
                <a:latin typeface="Aptos"/>
              </a:defRPr>
            </a:pPr>
            <a:r>
              <a:t>File Inclusion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19088" y="1664207"/>
            <a:ext cx="4892040" cy="2011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E293B"/>
                </a:solidFill>
                <a:latin typeface="Aptos"/>
              </a:defRPr>
            </a:pPr>
            <a:r>
              <a:t>High  •  The vulnerable parameter exposed /etc/passwd content.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2240280"/>
            <a:ext cx="5257800" cy="932688"/>
          </a:xfrm>
          <a:prstGeom prst="roundRect">
            <a:avLst/>
          </a:prstGeom>
          <a:solidFill>
            <a:srgbClr val="EEF4FA"/>
          </a:solidFill>
          <a:ln>
            <a:solidFill>
              <a:srgbClr val="D7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40080" y="2240280"/>
            <a:ext cx="64008" cy="932688"/>
          </a:xfrm>
          <a:prstGeom prst="rect">
            <a:avLst/>
          </a:prstGeom>
          <a:solidFill>
            <a:srgbClr val="236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41247" y="2404872"/>
            <a:ext cx="4892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A192F"/>
                </a:solidFill>
                <a:latin typeface="Aptos"/>
              </a:defRPr>
            </a:pPr>
            <a:r>
              <a:t>SQL Injection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7" y="2807208"/>
            <a:ext cx="4892040" cy="2011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E293B"/>
                </a:solidFill>
                <a:latin typeface="Aptos"/>
              </a:defRPr>
            </a:pPr>
            <a:r>
              <a:t>High  •  A tautology-style input returned multiple database records.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2240280"/>
            <a:ext cx="5257800" cy="932688"/>
          </a:xfrm>
          <a:prstGeom prst="roundRect">
            <a:avLst/>
          </a:prstGeom>
          <a:solidFill>
            <a:srgbClr val="EEF4FA"/>
          </a:solidFill>
          <a:ln>
            <a:solidFill>
              <a:srgbClr val="D7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217920" y="2240280"/>
            <a:ext cx="64008" cy="932688"/>
          </a:xfrm>
          <a:prstGeom prst="rect">
            <a:avLst/>
          </a:prstGeom>
          <a:solidFill>
            <a:srgbClr val="236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19088" y="2404872"/>
            <a:ext cx="4892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A192F"/>
                </a:solidFill>
                <a:latin typeface="Aptos"/>
              </a:defRPr>
            </a:pPr>
            <a:r>
              <a:t>Cross-Site Scripting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19088" y="2807208"/>
            <a:ext cx="4892040" cy="2011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E293B"/>
                </a:solidFill>
                <a:latin typeface="Aptos"/>
              </a:defRPr>
            </a:pPr>
            <a:r>
              <a:t>High  •  Reflected, Stored and DOM XSS behaviors were demonstrated.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3383280"/>
            <a:ext cx="5257800" cy="932688"/>
          </a:xfrm>
          <a:prstGeom prst="roundRect">
            <a:avLst/>
          </a:prstGeom>
          <a:solidFill>
            <a:srgbClr val="EEF4FA"/>
          </a:solidFill>
          <a:ln>
            <a:solidFill>
              <a:srgbClr val="D7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40080" y="3383280"/>
            <a:ext cx="64008" cy="932688"/>
          </a:xfrm>
          <a:prstGeom prst="rect">
            <a:avLst/>
          </a:prstGeom>
          <a:solidFill>
            <a:srgbClr val="236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41247" y="3547872"/>
            <a:ext cx="4892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A192F"/>
                </a:solidFill>
                <a:latin typeface="Aptos"/>
              </a:defRPr>
            </a:pPr>
            <a:r>
              <a:t>File Upload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7" y="3950208"/>
            <a:ext cx="4892040" cy="2011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E293B"/>
                </a:solidFill>
                <a:latin typeface="Aptos"/>
              </a:defRPr>
            </a:pPr>
            <a:r>
              <a:t>High  •  A file was accepted into the vulnerable upload directory.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17920" y="3383280"/>
            <a:ext cx="5257800" cy="932688"/>
          </a:xfrm>
          <a:prstGeom prst="roundRect">
            <a:avLst/>
          </a:prstGeom>
          <a:solidFill>
            <a:srgbClr val="EEF4FA"/>
          </a:solidFill>
          <a:ln>
            <a:solidFill>
              <a:srgbClr val="D7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217920" y="3383280"/>
            <a:ext cx="64008" cy="932688"/>
          </a:xfrm>
          <a:prstGeom prst="rect">
            <a:avLst/>
          </a:prstGeom>
          <a:solidFill>
            <a:srgbClr val="37A0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419088" y="3547872"/>
            <a:ext cx="4892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A192F"/>
                </a:solidFill>
                <a:latin typeface="Aptos"/>
              </a:defRPr>
            </a:pPr>
            <a:r>
              <a:t>Weak Session IDs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19088" y="3950208"/>
            <a:ext cx="4892040" cy="2011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E293B"/>
                </a:solidFill>
                <a:latin typeface="Aptos"/>
              </a:defRPr>
            </a:pPr>
            <a:r>
              <a:t>Medium  •  Session identifiers and cookie values were observed.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" y="4526280"/>
            <a:ext cx="5257800" cy="932688"/>
          </a:xfrm>
          <a:prstGeom prst="roundRect">
            <a:avLst/>
          </a:prstGeom>
          <a:solidFill>
            <a:srgbClr val="EEF4FA"/>
          </a:solidFill>
          <a:ln>
            <a:solidFill>
              <a:srgbClr val="D7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640080" y="4526280"/>
            <a:ext cx="64008" cy="932688"/>
          </a:xfrm>
          <a:prstGeom prst="rect">
            <a:avLst/>
          </a:prstGeom>
          <a:solidFill>
            <a:srgbClr val="37A0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41247" y="4690872"/>
            <a:ext cx="4892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A192F"/>
                </a:solidFill>
                <a:latin typeface="Aptos"/>
              </a:defRPr>
            </a:pPr>
            <a:r>
              <a:t>Open Redirect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1247" y="5093208"/>
            <a:ext cx="4892040" cy="2011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E293B"/>
                </a:solidFill>
                <a:latin typeface="Aptos"/>
              </a:defRPr>
            </a:pPr>
            <a:r>
              <a:t>Medium  •  The vulnerable interface redirected the browser.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217920" y="4526280"/>
            <a:ext cx="5257800" cy="1069848"/>
          </a:xfrm>
          <a:prstGeom prst="roundRect">
            <a:avLst/>
          </a:prstGeom>
          <a:solidFill>
            <a:srgbClr val="EEF4FA"/>
          </a:solidFill>
          <a:ln>
            <a:solidFill>
              <a:srgbClr val="D7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6217920" y="4526280"/>
            <a:ext cx="64008" cy="932688"/>
          </a:xfrm>
          <a:prstGeom prst="rect">
            <a:avLst/>
          </a:prstGeom>
          <a:solidFill>
            <a:srgbClr val="236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419088" y="4690872"/>
            <a:ext cx="4892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A192F"/>
                </a:solidFill>
                <a:latin typeface="Aptos"/>
              </a:defRPr>
            </a:pPr>
            <a:r>
              <a:t>Authorisation Bypass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19088" y="5093208"/>
            <a:ext cx="4892040" cy="2011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E293B"/>
                </a:solidFill>
                <a:latin typeface="Aptos"/>
              </a:defRPr>
            </a:pPr>
            <a:r>
              <a:rPr dirty="0"/>
              <a:t>High  •  User-management functionality allowed a successful save operation.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36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A192F"/>
                </a:solidFill>
                <a:latin typeface="Aptos Display"/>
              </a:defRPr>
            </a:pPr>
            <a:r>
              <a:t>DVWA Practical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446520"/>
            <a:ext cx="10972800" cy="9144"/>
          </a:xfrm>
          <a:prstGeom prst="rect">
            <a:avLst/>
          </a:prstGeom>
          <a:solidFill>
            <a:srgbClr val="D2DC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748B"/>
                </a:solidFill>
              </a:defRPr>
            </a:pPr>
            <a:r>
              <a:t>8</a:t>
            </a:r>
          </a:p>
        </p:txBody>
      </p:sp>
      <p:pic>
        <p:nvPicPr>
          <p:cNvPr id="9" name="Picture 8" descr="Screenshot 2026-08-26 21283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582994"/>
            <a:ext cx="5440680" cy="3726425"/>
          </a:xfrm>
          <a:prstGeom prst="rect">
            <a:avLst/>
          </a:prstGeom>
        </p:spPr>
      </p:pic>
      <p:pic>
        <p:nvPicPr>
          <p:cNvPr id="10" name="Picture 9" descr="Screenshot 2026-08-26 21494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5352" y="1582994"/>
            <a:ext cx="5440680" cy="372642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55905" y="5687568"/>
            <a:ext cx="5734711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Aptos"/>
              </a:defRPr>
            </a:pPr>
            <a:r>
              <a:rPr sz="1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Command Injection — controlled input produced command execution evidence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84921" y="5687568"/>
            <a:ext cx="4598118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Aptos"/>
              </a:defRPr>
            </a:pPr>
            <a:r>
              <a:rPr sz="1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SQL Injection — tautology-style input returned multiple records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36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A192F"/>
                </a:solidFill>
                <a:latin typeface="Aptos Display"/>
              </a:defRPr>
            </a:pPr>
            <a:r>
              <a:t>Metasploit / DistCC Validation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446520"/>
            <a:ext cx="10972800" cy="9144"/>
          </a:xfrm>
          <a:prstGeom prst="rect">
            <a:avLst/>
          </a:prstGeom>
          <a:solidFill>
            <a:srgbClr val="D2DC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748B"/>
                </a:solidFill>
              </a:defRPr>
            </a:pPr>
            <a:r>
              <a:t>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143000"/>
            <a:ext cx="1920240" cy="530352"/>
          </a:xfrm>
          <a:prstGeom prst="round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Target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1179576"/>
            <a:ext cx="8046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1E293B"/>
                </a:solidFill>
                <a:latin typeface="Aptos"/>
              </a:defRPr>
            </a:pPr>
            <a:r>
              <a:t>Metasploitable2 — 172.19.0.2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1920240"/>
            <a:ext cx="1920240" cy="530352"/>
          </a:xfrm>
          <a:prstGeom prst="round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Service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0" y="1956816"/>
            <a:ext cx="8046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1E293B"/>
                </a:solidFill>
                <a:latin typeface="Aptos"/>
              </a:defRPr>
            </a:pPr>
            <a:r>
              <a:t>DistCC — TCP 3632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2697480"/>
            <a:ext cx="1920240" cy="530352"/>
          </a:xfrm>
          <a:prstGeom prst="round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Module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2734056"/>
            <a:ext cx="8046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1E293B"/>
                </a:solidFill>
                <a:latin typeface="Aptos"/>
              </a:defRPr>
            </a:pPr>
            <a:r>
              <a:t>exploit/unix/misc/distcc_exec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3474720"/>
            <a:ext cx="1920240" cy="530352"/>
          </a:xfrm>
          <a:prstGeom prst="round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Payload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0" y="3511296"/>
            <a:ext cx="8046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1E293B"/>
                </a:solidFill>
                <a:latin typeface="Aptos"/>
              </a:defRPr>
            </a:pPr>
            <a:r>
              <a:t>cmd/unix/reverse_perl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4251960"/>
            <a:ext cx="1920240" cy="530352"/>
          </a:xfrm>
          <a:prstGeom prst="round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Listener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26080" y="4288536"/>
            <a:ext cx="8046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1E293B"/>
                </a:solidFill>
                <a:latin typeface="Aptos"/>
              </a:defRPr>
            </a:pPr>
            <a:r>
              <a:t>172.19.0.3:4444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5029200"/>
            <a:ext cx="1920240" cy="530352"/>
          </a:xfrm>
          <a:prstGeom prst="round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Verification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0" y="5065776"/>
            <a:ext cx="8046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1E293B"/>
                </a:solidFill>
                <a:latin typeface="Aptos"/>
              </a:defRPr>
            </a:pPr>
            <a:r>
              <a:t>check → run → sessions -i 1 → whoami / id / hostname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36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A192F"/>
                </a:solidFill>
                <a:latin typeface="Aptos Display"/>
              </a:defRPr>
            </a:pPr>
            <a:r>
              <a:t>Metasploit Practical Evidence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446520"/>
            <a:ext cx="10972800" cy="9144"/>
          </a:xfrm>
          <a:prstGeom prst="rect">
            <a:avLst/>
          </a:prstGeom>
          <a:solidFill>
            <a:srgbClr val="D2DC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748B"/>
                </a:solidFill>
              </a:defRPr>
            </a:pPr>
            <a:r>
              <a:t>10</a:t>
            </a:r>
          </a:p>
        </p:txBody>
      </p:sp>
      <p:pic>
        <p:nvPicPr>
          <p:cNvPr id="9" name="Picture 8" descr="Screenshot 2026-09-01 14414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325880"/>
            <a:ext cx="5440680" cy="3936443"/>
          </a:xfrm>
          <a:prstGeom prst="rect">
            <a:avLst/>
          </a:prstGeom>
        </p:spPr>
      </p:pic>
      <p:pic>
        <p:nvPicPr>
          <p:cNvPr id="10" name="Picture 9" descr="Screenshot 2026-09-01 14411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5352" y="1368921"/>
            <a:ext cx="5440680" cy="383669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13909" y="5687568"/>
            <a:ext cx="4618701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Aptos"/>
              </a:defRPr>
            </a:pPr>
            <a:r>
              <a:rPr sz="12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DistCC</a:t>
            </a:r>
            <a:r>
              <a:rPr sz="1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vulnerability confirmed; reverse Perl payload configured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7356" y="5687568"/>
            <a:ext cx="5773248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748B"/>
                </a:solidFill>
                <a:latin typeface="Aptos"/>
              </a:defRPr>
            </a:pPr>
            <a:r>
              <a:rPr sz="1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Command-shell session established and verified with </a:t>
            </a:r>
            <a:r>
              <a:rPr sz="12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whoami</a:t>
            </a:r>
            <a:r>
              <a:rPr sz="1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, id and hostname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36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A192F"/>
                </a:solidFill>
                <a:latin typeface="Aptos Display"/>
              </a:defRPr>
            </a:pPr>
            <a:r>
              <a:t>Results &amp; Observations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446520"/>
            <a:ext cx="10972800" cy="9144"/>
          </a:xfrm>
          <a:prstGeom prst="rect">
            <a:avLst/>
          </a:prstGeom>
          <a:solidFill>
            <a:srgbClr val="D2DC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748B"/>
                </a:solidFill>
              </a:defRPr>
            </a:pPr>
            <a:r>
              <a:t>11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143000"/>
            <a:ext cx="5212080" cy="1920240"/>
          </a:xfrm>
          <a:prstGeom prst="roundRect">
            <a:avLst/>
          </a:prstGeom>
          <a:solidFill>
            <a:srgbClr val="EEF4FA"/>
          </a:solidFill>
          <a:ln>
            <a:solidFill>
              <a:srgbClr val="D7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85800" y="1143000"/>
            <a:ext cx="64008" cy="1920240"/>
          </a:xfrm>
          <a:prstGeom prst="rect">
            <a:avLst/>
          </a:prstGeom>
          <a:solidFill>
            <a:srgbClr val="236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86968" y="1307592"/>
            <a:ext cx="4846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A192F"/>
                </a:solidFill>
                <a:latin typeface="Aptos"/>
              </a:defRPr>
            </a:pPr>
            <a:r>
              <a:t>DVWA Assessment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1709928"/>
            <a:ext cx="4846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E293B"/>
                </a:solidFill>
                <a:latin typeface="Aptos"/>
              </a:defRPr>
            </a:pPr>
            <a:r>
              <a:t>Multiple intentionally vulnerable web-application classes were reproduced and documented with practical evidence.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143000"/>
            <a:ext cx="5212080" cy="1920240"/>
          </a:xfrm>
          <a:prstGeom prst="roundRect">
            <a:avLst/>
          </a:prstGeom>
          <a:solidFill>
            <a:srgbClr val="EEF4FA"/>
          </a:solidFill>
          <a:ln>
            <a:solidFill>
              <a:srgbClr val="D7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263640" y="1143000"/>
            <a:ext cx="64008" cy="1920240"/>
          </a:xfrm>
          <a:prstGeom prst="rect">
            <a:avLst/>
          </a:prstGeom>
          <a:solidFill>
            <a:srgbClr val="37A0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64807" y="1307592"/>
            <a:ext cx="4846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A192F"/>
                </a:solidFill>
                <a:latin typeface="Aptos"/>
              </a:defRPr>
            </a:pPr>
            <a:r>
              <a:t>DistCC Validation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64807" y="1709928"/>
            <a:ext cx="4846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E293B"/>
                </a:solidFill>
                <a:latin typeface="Aptos"/>
              </a:defRPr>
            </a:pPr>
            <a:r>
              <a:t>Metasploit confirmed remote code execution through the exposed DistCC service on TCP 3632.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429000"/>
            <a:ext cx="5212080" cy="1920240"/>
          </a:xfrm>
          <a:prstGeom prst="roundRect">
            <a:avLst/>
          </a:prstGeom>
          <a:solidFill>
            <a:srgbClr val="EEF4FA"/>
          </a:solidFill>
          <a:ln>
            <a:solidFill>
              <a:srgbClr val="D7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85800" y="3429000"/>
            <a:ext cx="64008" cy="1920240"/>
          </a:xfrm>
          <a:prstGeom prst="rect">
            <a:avLst/>
          </a:prstGeom>
          <a:solidFill>
            <a:srgbClr val="236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86968" y="3593592"/>
            <a:ext cx="4846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A192F"/>
                </a:solidFill>
                <a:latin typeface="Aptos"/>
              </a:defRPr>
            </a:pPr>
            <a:r>
              <a:t>Shell Context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8" y="3995928"/>
            <a:ext cx="4846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E293B"/>
                </a:solidFill>
                <a:latin typeface="Aptos"/>
              </a:defRPr>
            </a:pPr>
            <a:r>
              <a:t>The successful shell ran as uid=1 (daemon), confirming code execution without root privileges.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63640" y="3429000"/>
            <a:ext cx="5212080" cy="1920240"/>
          </a:xfrm>
          <a:prstGeom prst="roundRect">
            <a:avLst/>
          </a:prstGeom>
          <a:solidFill>
            <a:srgbClr val="EEF4FA"/>
          </a:solidFill>
          <a:ln>
            <a:solidFill>
              <a:srgbClr val="D7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263640" y="3429000"/>
            <a:ext cx="64008" cy="1920240"/>
          </a:xfrm>
          <a:prstGeom prst="rect">
            <a:avLst/>
          </a:prstGeom>
          <a:solidFill>
            <a:srgbClr val="236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64807" y="3593592"/>
            <a:ext cx="4846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A192F"/>
                </a:solidFill>
                <a:latin typeface="Aptos"/>
              </a:defRPr>
            </a:pPr>
            <a:r>
              <a:t>Overall Outcome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64807" y="3995928"/>
            <a:ext cx="4846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E293B"/>
                </a:solidFill>
                <a:latin typeface="Aptos"/>
              </a:defRPr>
            </a:pPr>
            <a:r>
              <a:t>The complete exercise was performed in an isolated laboratory environment using Docker containers.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36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A192F"/>
                </a:solidFill>
                <a:latin typeface="Aptos Display"/>
              </a:defRPr>
            </a:pPr>
            <a:r>
              <a:t>Challenges &amp; Learning Outcomes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446520"/>
            <a:ext cx="10972800" cy="9144"/>
          </a:xfrm>
          <a:prstGeom prst="rect">
            <a:avLst/>
          </a:prstGeom>
          <a:solidFill>
            <a:srgbClr val="D2DC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748B"/>
                </a:solidFill>
              </a:defRPr>
            </a:pPr>
            <a:r>
              <a:t>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143000"/>
            <a:ext cx="5212080" cy="2093976"/>
          </a:xfrm>
          <a:prstGeom prst="roundRect">
            <a:avLst/>
          </a:prstGeom>
          <a:solidFill>
            <a:srgbClr val="EEF4FA"/>
          </a:solidFill>
          <a:ln>
            <a:solidFill>
              <a:srgbClr val="D7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85800" y="1143000"/>
            <a:ext cx="64008" cy="1965960"/>
          </a:xfrm>
          <a:prstGeom prst="rect">
            <a:avLst/>
          </a:prstGeom>
          <a:solidFill>
            <a:srgbClr val="236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86968" y="1307592"/>
            <a:ext cx="4846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A192F"/>
                </a:solidFill>
                <a:latin typeface="Aptos"/>
              </a:defRPr>
            </a:pPr>
            <a:r>
              <a:t>Key Challenges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1709928"/>
            <a:ext cx="4846320" cy="14506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1200">
                <a:solidFill>
                  <a:srgbClr val="1E293B"/>
                </a:solidFill>
                <a:latin typeface="Aptos"/>
              </a:defRPr>
            </a:pPr>
            <a:r>
              <a:rPr dirty="0"/>
              <a:t>• DVWA login initially showed a CSRF token error.</a:t>
            </a:r>
            <a:br>
              <a:rPr dirty="0"/>
            </a:br>
            <a:r>
              <a:rPr dirty="0"/>
              <a:t>• Initial </a:t>
            </a:r>
            <a:r>
              <a:rPr dirty="0" err="1"/>
              <a:t>reverse_bash</a:t>
            </a:r>
            <a:r>
              <a:rPr dirty="0"/>
              <a:t> payload did not create a usable session.</a:t>
            </a:r>
            <a:br>
              <a:rPr dirty="0"/>
            </a:br>
            <a:r>
              <a:rPr dirty="0"/>
              <a:t>• Metasploit shell interaction required backgrounding and re-entering the session.</a:t>
            </a:r>
            <a:br>
              <a:rPr dirty="0"/>
            </a:br>
            <a:r>
              <a:rPr dirty="0"/>
              <a:t>• Multiple containers/terminals required explicit network verification.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143000"/>
            <a:ext cx="5212080" cy="2017582"/>
          </a:xfrm>
          <a:prstGeom prst="roundRect">
            <a:avLst/>
          </a:prstGeom>
          <a:solidFill>
            <a:srgbClr val="EEF4FA"/>
          </a:solidFill>
          <a:ln>
            <a:solidFill>
              <a:srgbClr val="D7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263640" y="1143000"/>
            <a:ext cx="64008" cy="1965960"/>
          </a:xfrm>
          <a:prstGeom prst="rect">
            <a:avLst/>
          </a:prstGeom>
          <a:solidFill>
            <a:srgbClr val="236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64807" y="1307592"/>
            <a:ext cx="4846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A192F"/>
                </a:solidFill>
                <a:latin typeface="Aptos"/>
              </a:defRPr>
            </a:pPr>
            <a:r>
              <a:t>How They Were Resolved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64807" y="1709928"/>
            <a:ext cx="4846320" cy="11736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1200">
                <a:solidFill>
                  <a:srgbClr val="1E293B"/>
                </a:solidFill>
                <a:latin typeface="Aptos"/>
              </a:defRPr>
            </a:pPr>
            <a:r>
              <a:rPr dirty="0"/>
              <a:t>• Rechecked the DVWA setup/login workflow.</a:t>
            </a:r>
            <a:br>
              <a:rPr dirty="0"/>
            </a:br>
            <a:r>
              <a:rPr dirty="0"/>
              <a:t>• Selected the compatible </a:t>
            </a:r>
            <a:r>
              <a:rPr dirty="0" err="1"/>
              <a:t>reverse_perl</a:t>
            </a:r>
            <a:r>
              <a:rPr dirty="0"/>
              <a:t> payload.</a:t>
            </a:r>
            <a:br>
              <a:rPr dirty="0"/>
            </a:br>
            <a:r>
              <a:rPr dirty="0"/>
              <a:t>• Used sessions -</a:t>
            </a:r>
            <a:r>
              <a:rPr dirty="0" err="1"/>
              <a:t>i</a:t>
            </a:r>
            <a:r>
              <a:rPr dirty="0"/>
              <a:t> 1 for interaction.</a:t>
            </a:r>
            <a:br>
              <a:rPr dirty="0"/>
            </a:br>
            <a:r>
              <a:rPr dirty="0"/>
              <a:t>• Verified container IPs and TCP 3632 connectivity with </a:t>
            </a:r>
            <a:r>
              <a:rPr dirty="0" err="1"/>
              <a:t>Netcat</a:t>
            </a:r>
            <a:r>
              <a:rPr dirty="0"/>
              <a:t>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474720"/>
            <a:ext cx="10789920" cy="1645920"/>
          </a:xfrm>
          <a:prstGeom prst="roundRect">
            <a:avLst/>
          </a:prstGeom>
          <a:solidFill>
            <a:srgbClr val="EEF4FA"/>
          </a:solidFill>
          <a:ln>
            <a:solidFill>
              <a:srgbClr val="D7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85800" y="3474720"/>
            <a:ext cx="64008" cy="1645920"/>
          </a:xfrm>
          <a:prstGeom prst="rect">
            <a:avLst/>
          </a:prstGeom>
          <a:solidFill>
            <a:srgbClr val="37A0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86968" y="3639312"/>
            <a:ext cx="10424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A192F"/>
                </a:solidFill>
                <a:latin typeface="Aptos"/>
              </a:defRPr>
            </a:pPr>
            <a:r>
              <a:t>Learning Outcome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8" y="4041648"/>
            <a:ext cx="10424160" cy="6196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1200">
                <a:solidFill>
                  <a:srgbClr val="1E293B"/>
                </a:solidFill>
                <a:latin typeface="Aptos"/>
              </a:defRPr>
            </a:pPr>
            <a:r>
              <a:rPr dirty="0"/>
              <a:t>Hands-on experience with vulnerable web applications, evidence collection, Docker networking, service enumeration, Metasploit module configuration, payload selection and command-shell verification.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36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84048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A192F"/>
                </a:solidFill>
                <a:latin typeface="Aptos Display"/>
              </a:defRPr>
            </a:pPr>
            <a:r>
              <a:t>Conclusion &amp; References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446520"/>
            <a:ext cx="10972800" cy="9144"/>
          </a:xfrm>
          <a:prstGeom prst="rect">
            <a:avLst/>
          </a:prstGeom>
          <a:solidFill>
            <a:srgbClr val="D2DC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6473952"/>
            <a:ext cx="226344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64748B"/>
                </a:solidFill>
                <a:latin typeface="Aptos"/>
              </a:defRPr>
            </a:pPr>
            <a:r>
              <a:rPr dirty="0"/>
              <a:t> 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02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4748B"/>
                </a:solidFill>
              </a:defRPr>
            </a:pPr>
            <a:r>
              <a:t>13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097280"/>
            <a:ext cx="10789920" cy="1600200"/>
          </a:xfrm>
          <a:prstGeom prst="roundRect">
            <a:avLst/>
          </a:prstGeom>
          <a:solidFill>
            <a:srgbClr val="EEF4FA"/>
          </a:solidFill>
          <a:ln>
            <a:solidFill>
              <a:srgbClr val="D7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85800" y="1097280"/>
            <a:ext cx="64008" cy="1600200"/>
          </a:xfrm>
          <a:prstGeom prst="rect">
            <a:avLst/>
          </a:prstGeom>
          <a:solidFill>
            <a:srgbClr val="236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86968" y="1261872"/>
            <a:ext cx="10424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A192F"/>
                </a:solidFill>
                <a:latin typeface="Aptos"/>
              </a:defRPr>
            </a:pPr>
            <a:r>
              <a:t>Conclusion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1664207"/>
            <a:ext cx="10424160" cy="6196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1200">
                <a:solidFill>
                  <a:srgbClr val="1E293B"/>
                </a:solidFill>
                <a:latin typeface="Aptos"/>
              </a:defRPr>
            </a:pPr>
            <a:r>
              <a:rPr dirty="0"/>
              <a:t>The project successfully completed a hands-on DVWA assessment and a controlled </a:t>
            </a:r>
            <a:r>
              <a:rPr dirty="0" err="1"/>
              <a:t>DistCC</a:t>
            </a:r>
            <a:r>
              <a:rPr dirty="0"/>
              <a:t> remote-code-execution demonstration. The </a:t>
            </a:r>
            <a:r>
              <a:rPr dirty="0" err="1"/>
              <a:t>DistCC</a:t>
            </a:r>
            <a:r>
              <a:rPr dirty="0"/>
              <a:t> vulnerability was confirmed and a reverse Perl command-shell session was established and verified.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017520"/>
            <a:ext cx="5212080" cy="2450590"/>
          </a:xfrm>
          <a:prstGeom prst="roundRect">
            <a:avLst/>
          </a:prstGeom>
          <a:solidFill>
            <a:srgbClr val="EEF4FA"/>
          </a:solidFill>
          <a:ln>
            <a:solidFill>
              <a:srgbClr val="D7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85800" y="3017520"/>
            <a:ext cx="64008" cy="2057400"/>
          </a:xfrm>
          <a:prstGeom prst="rect">
            <a:avLst/>
          </a:prstGeom>
          <a:solidFill>
            <a:srgbClr val="236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86968" y="3182112"/>
            <a:ext cx="4846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A192F"/>
                </a:solidFill>
                <a:latin typeface="Aptos"/>
              </a:defRPr>
            </a:pPr>
            <a:r>
              <a:t>Future Scope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6968" y="3584448"/>
            <a:ext cx="4846320" cy="14506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1200">
                <a:solidFill>
                  <a:srgbClr val="1E293B"/>
                </a:solidFill>
                <a:latin typeface="Aptos"/>
              </a:defRPr>
            </a:pPr>
            <a:r>
              <a:rPr dirty="0"/>
              <a:t>• Severity scoring and remediation verification</a:t>
            </a:r>
            <a:br>
              <a:rPr dirty="0"/>
            </a:br>
            <a:r>
              <a:rPr dirty="0"/>
              <a:t>• Automated web scanning</a:t>
            </a:r>
            <a:br>
              <a:rPr dirty="0"/>
            </a:br>
            <a:r>
              <a:rPr dirty="0"/>
              <a:t>• Defensive logging and detection</a:t>
            </a:r>
            <a:br>
              <a:rPr dirty="0"/>
            </a:br>
            <a:r>
              <a:rPr dirty="0"/>
              <a:t>• Retesting after secure configuration</a:t>
            </a:r>
            <a:br>
              <a:rPr dirty="0"/>
            </a:br>
            <a:r>
              <a:rPr dirty="0"/>
              <a:t>• Comparison of additional payloads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3017520"/>
            <a:ext cx="5212080" cy="2432302"/>
          </a:xfrm>
          <a:prstGeom prst="roundRect">
            <a:avLst/>
          </a:prstGeom>
          <a:solidFill>
            <a:srgbClr val="EEF4FA"/>
          </a:solidFill>
          <a:ln>
            <a:solidFill>
              <a:srgbClr val="D7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263640" y="3017520"/>
            <a:ext cx="64008" cy="2057400"/>
          </a:xfrm>
          <a:prstGeom prst="rect">
            <a:avLst/>
          </a:prstGeom>
          <a:solidFill>
            <a:srgbClr val="236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64807" y="3182112"/>
            <a:ext cx="4846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A192F"/>
                </a:solidFill>
                <a:latin typeface="Aptos"/>
              </a:defRPr>
            </a:pPr>
            <a:r>
              <a:t>References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64807" y="3584448"/>
            <a:ext cx="4846320" cy="14506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1200">
                <a:solidFill>
                  <a:srgbClr val="1E293B"/>
                </a:solidFill>
                <a:latin typeface="Aptos"/>
              </a:defRPr>
            </a:pPr>
            <a:r>
              <a:rPr dirty="0"/>
              <a:t>• Metasploit Framework Documentation</a:t>
            </a:r>
            <a:br>
              <a:rPr dirty="0"/>
            </a:br>
            <a:r>
              <a:rPr dirty="0"/>
              <a:t>• NVD — CVE-2004-2687</a:t>
            </a:r>
            <a:br>
              <a:rPr dirty="0"/>
            </a:br>
            <a:r>
              <a:rPr dirty="0"/>
              <a:t>• </a:t>
            </a:r>
            <a:r>
              <a:rPr dirty="0" err="1"/>
              <a:t>DistCC</a:t>
            </a:r>
            <a:r>
              <a:rPr dirty="0"/>
              <a:t> Security Information</a:t>
            </a:r>
            <a:br>
              <a:rPr dirty="0"/>
            </a:br>
            <a:r>
              <a:rPr dirty="0"/>
              <a:t>• OWASP XSS / Blind SQL Injection</a:t>
            </a:r>
            <a:br>
              <a:rPr dirty="0"/>
            </a:br>
            <a:r>
              <a:rPr dirty="0"/>
              <a:t>• DVWA — Damn Vulnerable Web Application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EE968B8-3EA5-A9B8-52B2-EE42C33DC0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3470787" y="1730477"/>
            <a:ext cx="5368413" cy="318565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7549354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58</TotalTime>
  <Words>826</Words>
  <Application>Microsoft Office PowerPoint</Application>
  <PresentationFormat>Widescreen</PresentationFormat>
  <Paragraphs>135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Ridhi Jain</cp:lastModifiedBy>
  <cp:revision>3</cp:revision>
  <dcterms:created xsi:type="dcterms:W3CDTF">2013-01-27T09:14:16Z</dcterms:created>
  <dcterms:modified xsi:type="dcterms:W3CDTF">2026-09-02T14:32:19Z</dcterms:modified>
  <cp:category/>
</cp:coreProperties>
</file>